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8" r:id="rId7"/>
    <p:sldId id="269" r:id="rId8"/>
    <p:sldId id="270" r:id="rId9"/>
    <p:sldId id="271" r:id="rId10"/>
    <p:sldId id="267" r:id="rId11"/>
    <p:sldId id="262" r:id="rId12"/>
    <p:sldId id="263" r:id="rId13"/>
    <p:sldId id="264" r:id="rId14"/>
    <p:sldId id="266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8" autoAdjust="0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132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286000"/>
            <a:ext cx="34340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     The big escape game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4719711"/>
            <a:ext cx="358255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EB9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Rooms, Items &amp; Game State — Data Model Walkthrough</a:t>
            </a:r>
            <a:endParaRPr lang="en-US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CFA1D5-541E-3BAF-3514-287BEE7DB0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933" y="741872"/>
            <a:ext cx="6221240" cy="46646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D6B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MODEL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Items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97480" cy="4480560"/>
          </a:xfrm>
          <a:prstGeom prst="rect">
            <a:avLst/>
          </a:prstGeom>
          <a:solidFill>
            <a:srgbClr val="F4F6FA"/>
          </a:solidFill>
        </p:spPr>
      </p:sp>
      <p:sp>
        <p:nvSpPr>
          <p:cNvPr id="5" name="Text 3"/>
          <p:cNvSpPr txBox="1"/>
          <p:nvPr/>
        </p:nvSpPr>
        <p:spPr>
          <a:xfrm>
            <a:off x="731520" y="164592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Furniture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03120"/>
            <a:ext cx="2331720" cy="365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couch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piano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queenbed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doublebed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dresser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diningtable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living_couch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83280" y="1463040"/>
            <a:ext cx="2697480" cy="4480560"/>
          </a:xfrm>
          <a:prstGeom prst="rect">
            <a:avLst/>
          </a:prstGeom>
          <a:solidFill>
            <a:srgbClr val="F4F6FA"/>
          </a:solidFill>
        </p:spPr>
      </p:sp>
      <p:sp>
        <p:nvSpPr>
          <p:cNvPr id="8" name="Text 6"/>
          <p:cNvSpPr txBox="1"/>
          <p:nvPr/>
        </p:nvSpPr>
        <p:spPr>
          <a:xfrm>
            <a:off x="3566160" y="164592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Doors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103120"/>
            <a:ext cx="2331720" cy="365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door_a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door_b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door_c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door_d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2697480" cy="4480560"/>
          </a:xfrm>
          <a:prstGeom prst="rect">
            <a:avLst/>
          </a:prstGeom>
          <a:solidFill>
            <a:srgbClr val="F4F6FA"/>
          </a:solidFill>
        </p:spPr>
      </p:sp>
      <p:sp>
        <p:nvSpPr>
          <p:cNvPr id="11" name="Text 9"/>
          <p:cNvSpPr txBox="1"/>
          <p:nvPr/>
        </p:nvSpPr>
        <p:spPr>
          <a:xfrm>
            <a:off x="6400800" y="164592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103120"/>
            <a:ext cx="2331720" cy="365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key_a → door_a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key_b → door_b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key_c → door_c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key_d → door_d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52560" y="1463040"/>
            <a:ext cx="2697480" cy="4480560"/>
          </a:xfrm>
          <a:prstGeom prst="rect">
            <a:avLst/>
          </a:prstGeom>
          <a:solidFill>
            <a:srgbClr val="F4F6FA"/>
          </a:solidFill>
        </p:spPr>
      </p:sp>
      <p:sp>
        <p:nvSpPr>
          <p:cNvPr id="14" name="Text 12"/>
          <p:cNvSpPr txBox="1"/>
          <p:nvPr/>
        </p:nvSpPr>
        <p:spPr>
          <a:xfrm>
            <a:off x="9235440" y="164592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Electronics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235440" y="2103120"/>
            <a:ext cx="2331720" cy="365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TV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D6B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MODEL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Rooms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749808"/>
          </a:xfrm>
          <a:prstGeom prst="rect">
            <a:avLst/>
          </a:prstGeom>
          <a:solidFill>
            <a:srgbClr val="F4F6FA"/>
          </a:solidFill>
        </p:spPr>
      </p:sp>
      <p:sp>
        <p:nvSpPr>
          <p:cNvPr id="5" name="Text 3"/>
          <p:cNvSpPr txBox="1"/>
          <p:nvPr/>
        </p:nvSpPr>
        <p:spPr>
          <a:xfrm>
            <a:off x="822960" y="1508760"/>
            <a:ext cx="27432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Game Room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657600" y="1508760"/>
            <a:ext cx="768096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couch, piano, door_a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11064240" cy="749808"/>
          </a:xfrm>
          <a:prstGeom prst="rect">
            <a:avLst/>
          </a:prstGeom>
          <a:solidFill>
            <a:srgbClr val="F4F6FA"/>
          </a:solidFill>
        </p:spPr>
      </p:sp>
      <p:sp>
        <p:nvSpPr>
          <p:cNvPr id="8" name="Text 6"/>
          <p:cNvSpPr txBox="1"/>
          <p:nvPr/>
        </p:nvSpPr>
        <p:spPr>
          <a:xfrm>
            <a:off x="822960" y="2423160"/>
            <a:ext cx="27432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Bedroom 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2423160"/>
            <a:ext cx="768096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queenbed, door_a, door_b, door_c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11064240" cy="749808"/>
          </a:xfrm>
          <a:prstGeom prst="rect">
            <a:avLst/>
          </a:prstGeom>
          <a:solidFill>
            <a:srgbClr val="F4F6FA"/>
          </a:solidFill>
        </p:spPr>
      </p:sp>
      <p:sp>
        <p:nvSpPr>
          <p:cNvPr id="11" name="Text 9"/>
          <p:cNvSpPr txBox="1"/>
          <p:nvPr/>
        </p:nvSpPr>
        <p:spPr>
          <a:xfrm>
            <a:off x="822960" y="3337560"/>
            <a:ext cx="27432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Bedroom 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3337560"/>
            <a:ext cx="768096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doublebed, door_b, dresser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251960"/>
            <a:ext cx="11064240" cy="749808"/>
          </a:xfrm>
          <a:prstGeom prst="rect">
            <a:avLst/>
          </a:prstGeom>
          <a:solidFill>
            <a:srgbClr val="F4F6FA"/>
          </a:solidFill>
        </p:spPr>
      </p:sp>
      <p:sp>
        <p:nvSpPr>
          <p:cNvPr id="14" name="Text 12"/>
          <p:cNvSpPr txBox="1"/>
          <p:nvPr/>
        </p:nvSpPr>
        <p:spPr>
          <a:xfrm>
            <a:off x="822960" y="4251960"/>
            <a:ext cx="27432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Living Room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0" y="4251960"/>
            <a:ext cx="768096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diningtable, door_c, door_d, living_couch, TV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166360"/>
            <a:ext cx="11064240" cy="749808"/>
          </a:xfrm>
          <a:prstGeom prst="rect">
            <a:avLst/>
          </a:prstGeom>
          <a:solidFill>
            <a:srgbClr val="F4F6FA"/>
          </a:solidFill>
        </p:spPr>
      </p:sp>
      <p:sp>
        <p:nvSpPr>
          <p:cNvPr id="17" name="Text 15"/>
          <p:cNvSpPr txBox="1"/>
          <p:nvPr/>
        </p:nvSpPr>
        <p:spPr>
          <a:xfrm>
            <a:off x="822960" y="5166360"/>
            <a:ext cx="27432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Outside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5166360"/>
            <a:ext cx="768096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door_d  (target room)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D6B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MODEL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Doors Connect Rooms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06040" cy="2926080"/>
          </a:xfrm>
          <a:prstGeom prst="rect">
            <a:avLst/>
          </a:prstGeom>
          <a:solidFill>
            <a:srgbClr val="F4F6FA"/>
          </a:solidFill>
        </p:spPr>
      </p:sp>
      <p:sp>
        <p:nvSpPr>
          <p:cNvPr id="5" name="Text 3"/>
          <p:cNvSpPr txBox="1"/>
          <p:nvPr/>
        </p:nvSpPr>
        <p:spPr>
          <a:xfrm>
            <a:off x="731520" y="187452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6B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Door 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68880"/>
            <a:ext cx="224028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Game Room  ⇄  Bedroom 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06908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unlocked by key_a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645920"/>
            <a:ext cx="2606040" cy="2926080"/>
          </a:xfrm>
          <a:prstGeom prst="rect">
            <a:avLst/>
          </a:prstGeom>
          <a:solidFill>
            <a:srgbClr val="F4F6FA"/>
          </a:solidFill>
        </p:spPr>
      </p:sp>
      <p:sp>
        <p:nvSpPr>
          <p:cNvPr id="9" name="Text 7"/>
          <p:cNvSpPr txBox="1"/>
          <p:nvPr/>
        </p:nvSpPr>
        <p:spPr>
          <a:xfrm>
            <a:off x="3520440" y="187452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6B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Door B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468880"/>
            <a:ext cx="224028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Bedroom 2  ⇄  Bedroom 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406908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unlocked by key_b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645920"/>
            <a:ext cx="2606040" cy="2926080"/>
          </a:xfrm>
          <a:prstGeom prst="rect">
            <a:avLst/>
          </a:prstGeom>
          <a:solidFill>
            <a:srgbClr val="F4F6FA"/>
          </a:solidFill>
        </p:spPr>
      </p:sp>
      <p:sp>
        <p:nvSpPr>
          <p:cNvPr id="13" name="Text 11"/>
          <p:cNvSpPr txBox="1"/>
          <p:nvPr/>
        </p:nvSpPr>
        <p:spPr>
          <a:xfrm>
            <a:off x="6309360" y="187452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6B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Door C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2468880"/>
            <a:ext cx="224028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Living Room  ⇄  Bedroom 1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406908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unlocked by key_c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15400" y="1645920"/>
            <a:ext cx="2606040" cy="2926080"/>
          </a:xfrm>
          <a:prstGeom prst="rect">
            <a:avLst/>
          </a:prstGeom>
          <a:solidFill>
            <a:srgbClr val="F4F6FA"/>
          </a:solidFill>
        </p:spPr>
      </p:sp>
      <p:sp>
        <p:nvSpPr>
          <p:cNvPr id="17" name="Text 15"/>
          <p:cNvSpPr txBox="1"/>
          <p:nvPr/>
        </p:nvSpPr>
        <p:spPr>
          <a:xfrm>
            <a:off x="9098280" y="187452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6B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Door 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098280" y="2468880"/>
            <a:ext cx="224028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Living Room  ⇄  Outside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098280" y="406908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unlocked by key_d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D6B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model executable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/>
              <a:t>Game room- room and items defined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548640" y="984738"/>
            <a:ext cx="11158806" cy="5708670"/>
            <a:chOff x="548640" y="1274298"/>
            <a:chExt cx="11064240" cy="4892040"/>
          </a:xfrm>
        </p:grpSpPr>
        <p:sp>
          <p:nvSpPr>
            <p:cNvPr id="4" name="Shape 2"/>
            <p:cNvSpPr/>
            <p:nvPr/>
          </p:nvSpPr>
          <p:spPr>
            <a:xfrm>
              <a:off x="548640" y="1274298"/>
              <a:ext cx="11064240" cy="4892040"/>
            </a:xfrm>
            <a:prstGeom prst="rect">
              <a:avLst/>
            </a:prstGeom>
            <a:solidFill>
              <a:srgbClr val="1B2A4A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731488" y="1473395"/>
              <a:ext cx="10698544" cy="44938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1445847" y="1659665"/>
            <a:ext cx="8784491" cy="3538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couch = {    </a:t>
            </a:r>
          </a:p>
          <a:p>
            <a:r>
              <a:rPr lang="en-US" sz="1400" dirty="0"/>
              <a:t>"name": "couch",    </a:t>
            </a:r>
          </a:p>
          <a:p>
            <a:r>
              <a:rPr lang="en-US" sz="1400" dirty="0"/>
              <a:t>"type": "furniture",</a:t>
            </a:r>
          </a:p>
          <a:p>
            <a:r>
              <a:rPr lang="en-US" sz="1400" dirty="0"/>
              <a:t>}</a:t>
            </a:r>
          </a:p>
          <a:p>
            <a:r>
              <a:rPr lang="en-US" sz="1400" dirty="0" err="1"/>
              <a:t>key_a</a:t>
            </a:r>
            <a:r>
              <a:rPr lang="en-US" sz="1400" dirty="0"/>
              <a:t> = {   </a:t>
            </a:r>
          </a:p>
          <a:p>
            <a:r>
              <a:rPr lang="en-US" sz="1400" dirty="0"/>
              <a:t> "name": "key for door a",   </a:t>
            </a:r>
          </a:p>
          <a:p>
            <a:r>
              <a:rPr lang="en-US" sz="1400" dirty="0"/>
              <a:t> "type": "key",    "target": </a:t>
            </a:r>
            <a:r>
              <a:rPr lang="en-US" sz="1400" dirty="0" err="1"/>
              <a:t>door_a</a:t>
            </a:r>
            <a:r>
              <a:rPr lang="en-US" sz="1400" dirty="0"/>
              <a:t>,</a:t>
            </a:r>
          </a:p>
          <a:p>
            <a:r>
              <a:rPr lang="en-US" sz="1400" dirty="0"/>
              <a:t>}</a:t>
            </a:r>
          </a:p>
          <a:p>
            <a:r>
              <a:rPr lang="en-US" sz="1400" dirty="0"/>
              <a:t>piano = {    </a:t>
            </a:r>
          </a:p>
          <a:p>
            <a:r>
              <a:rPr lang="en-US" sz="1400" dirty="0"/>
              <a:t>"name": "piano",  </a:t>
            </a:r>
          </a:p>
          <a:p>
            <a:r>
              <a:rPr lang="en-US" sz="1400" dirty="0"/>
              <a:t>  "type": "furniture",</a:t>
            </a:r>
          </a:p>
          <a:p>
            <a:r>
              <a:rPr lang="en-US" sz="1400" dirty="0"/>
              <a:t>}</a:t>
            </a:r>
          </a:p>
          <a:p>
            <a:r>
              <a:rPr lang="en-US" altLang="en-US" sz="1400" dirty="0"/>
              <a:t>door_a = {</a:t>
            </a:r>
          </a:p>
          <a:p>
            <a:r>
              <a:rPr lang="en-US" altLang="en-US" sz="1400" dirty="0"/>
              <a:t>    "name": "door a",</a:t>
            </a:r>
          </a:p>
          <a:p>
            <a:r>
              <a:rPr lang="en-US" altLang="en-US" sz="1400" dirty="0"/>
              <a:t>    "type": "door",</a:t>
            </a:r>
          </a:p>
          <a:p>
            <a:r>
              <a:rPr lang="en-US" altLang="en-US" sz="1400" dirty="0"/>
              <a:t>}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2A156A-656A-0F97-98F8-FD0B7A812F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436" y="1659665"/>
            <a:ext cx="6109717" cy="45810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D6B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model executable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/>
              <a:t>Bedroom 1- room and items defined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548640" y="969109"/>
            <a:ext cx="11260406" cy="5799014"/>
            <a:chOff x="548640" y="1274298"/>
            <a:chExt cx="11064240" cy="4892040"/>
          </a:xfrm>
        </p:grpSpPr>
        <p:sp>
          <p:nvSpPr>
            <p:cNvPr id="4" name="Shape 2"/>
            <p:cNvSpPr/>
            <p:nvPr/>
          </p:nvSpPr>
          <p:spPr>
            <a:xfrm>
              <a:off x="548640" y="1274298"/>
              <a:ext cx="11064240" cy="4892040"/>
            </a:xfrm>
            <a:prstGeom prst="rect">
              <a:avLst/>
            </a:prstGeom>
            <a:solidFill>
              <a:srgbClr val="1B2A4A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731488" y="1473395"/>
              <a:ext cx="10698544" cy="44938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1883508" y="1497886"/>
            <a:ext cx="9511323" cy="4399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/>
              <a:t>key_b</a:t>
            </a:r>
            <a:r>
              <a:rPr lang="en-US" sz="1400" dirty="0"/>
              <a:t> = {    </a:t>
            </a:r>
          </a:p>
          <a:p>
            <a:r>
              <a:rPr lang="en-US" sz="1400" dirty="0"/>
              <a:t>"name": "key for door b",   </a:t>
            </a:r>
          </a:p>
          <a:p>
            <a:r>
              <a:rPr lang="en-US" sz="1400" dirty="0"/>
              <a:t> "type": "key",   </a:t>
            </a:r>
          </a:p>
          <a:p>
            <a:r>
              <a:rPr lang="en-US" sz="1400" dirty="0"/>
              <a:t> "target": </a:t>
            </a:r>
            <a:r>
              <a:rPr lang="en-US" sz="1400" dirty="0" err="1"/>
              <a:t>door_b</a:t>
            </a:r>
            <a:r>
              <a:rPr lang="en-US" sz="1400" dirty="0"/>
              <a:t>,</a:t>
            </a:r>
          </a:p>
          <a:p>
            <a:r>
              <a:rPr lang="en-US" sz="1400" dirty="0"/>
              <a:t>}</a:t>
            </a:r>
          </a:p>
          <a:p>
            <a:r>
              <a:rPr lang="en-US" sz="1400" dirty="0" err="1"/>
              <a:t>queenbed</a:t>
            </a:r>
            <a:r>
              <a:rPr lang="en-US" sz="1400" dirty="0"/>
              <a:t> = {    "name": "</a:t>
            </a:r>
            <a:r>
              <a:rPr lang="en-US" sz="1400" dirty="0" err="1"/>
              <a:t>queenbed</a:t>
            </a:r>
            <a:r>
              <a:rPr lang="en-US" sz="1400" dirty="0"/>
              <a:t>",   </a:t>
            </a:r>
          </a:p>
          <a:p>
            <a:r>
              <a:rPr lang="en-US" sz="1400" dirty="0"/>
              <a:t> "type": "furniture",</a:t>
            </a:r>
          </a:p>
          <a:p>
            <a:r>
              <a:rPr lang="en-US" sz="1400" dirty="0"/>
              <a:t>}</a:t>
            </a:r>
          </a:p>
          <a:p>
            <a:r>
              <a:rPr lang="en-US" altLang="en-US" sz="1400" dirty="0"/>
              <a:t>door_a = {</a:t>
            </a:r>
          </a:p>
          <a:p>
            <a:r>
              <a:rPr lang="en-US" altLang="en-US" sz="1400" dirty="0"/>
              <a:t>    "name": "door a",</a:t>
            </a:r>
          </a:p>
          <a:p>
            <a:r>
              <a:rPr lang="en-US" altLang="en-US" sz="1400" dirty="0"/>
              <a:t>    "type": "door",</a:t>
            </a:r>
          </a:p>
          <a:p>
            <a:r>
              <a:rPr lang="en-US" altLang="en-US" sz="1400" dirty="0"/>
              <a:t>}</a:t>
            </a:r>
          </a:p>
          <a:p>
            <a:r>
              <a:rPr lang="en-US" altLang="en-US" sz="1400" dirty="0"/>
              <a:t>door_b = {</a:t>
            </a:r>
          </a:p>
          <a:p>
            <a:r>
              <a:rPr lang="en-US" altLang="en-US" sz="1400" dirty="0"/>
              <a:t>    "name": "door b",</a:t>
            </a:r>
          </a:p>
          <a:p>
            <a:r>
              <a:rPr lang="en-US" altLang="en-US" sz="1400" dirty="0"/>
              <a:t>    "type": "door",</a:t>
            </a:r>
          </a:p>
          <a:p>
            <a:r>
              <a:rPr lang="en-US" altLang="en-US" sz="1400" dirty="0"/>
              <a:t>}</a:t>
            </a:r>
          </a:p>
          <a:p>
            <a:r>
              <a:rPr lang="en-US" altLang="en-US" sz="1400" dirty="0"/>
              <a:t>door_c = {</a:t>
            </a:r>
          </a:p>
          <a:p>
            <a:r>
              <a:rPr lang="en-US" altLang="en-US" sz="1400" dirty="0"/>
              <a:t>    "name": "door c",</a:t>
            </a:r>
          </a:p>
          <a:p>
            <a:r>
              <a:rPr lang="en-US" altLang="en-US" sz="1400" dirty="0"/>
              <a:t>    "type": "door",</a:t>
            </a:r>
          </a:p>
          <a:p>
            <a:r>
              <a:rPr lang="en-US" altLang="en-US" sz="1400" dirty="0"/>
              <a:t>}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80BF54-885E-F4AE-60EA-7B830E1E20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5968" y="1615050"/>
            <a:ext cx="6102394" cy="457551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D6B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model executable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/>
              <a:t>Bedroom 2- room and items defined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548640" y="969109"/>
            <a:ext cx="11260406" cy="5799014"/>
            <a:chOff x="548640" y="1274298"/>
            <a:chExt cx="11064240" cy="4892040"/>
          </a:xfrm>
        </p:grpSpPr>
        <p:sp>
          <p:nvSpPr>
            <p:cNvPr id="4" name="Shape 2"/>
            <p:cNvSpPr/>
            <p:nvPr/>
          </p:nvSpPr>
          <p:spPr>
            <a:xfrm>
              <a:off x="548640" y="1274298"/>
              <a:ext cx="11064240" cy="4892040"/>
            </a:xfrm>
            <a:prstGeom prst="rect">
              <a:avLst/>
            </a:prstGeom>
            <a:solidFill>
              <a:srgbClr val="1B2A4A"/>
            </a:solidFill>
          </p:spPr>
          <p:txBody>
            <a:bodyPr/>
            <a:lstStyle/>
            <a:p>
              <a:endParaRPr lang="en-US" b="1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731488" y="1473395"/>
              <a:ext cx="10698544" cy="44938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1883509" y="1744958"/>
            <a:ext cx="7266314" cy="4831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/>
              <a:t>doublebed</a:t>
            </a:r>
            <a:r>
              <a:rPr lang="en-US" sz="1400" dirty="0"/>
              <a:t> = {    </a:t>
            </a:r>
          </a:p>
          <a:p>
            <a:r>
              <a:rPr lang="en-US" sz="1400" dirty="0"/>
              <a:t>"name": "</a:t>
            </a:r>
            <a:r>
              <a:rPr lang="en-US" sz="1400" dirty="0" err="1"/>
              <a:t>doublebed</a:t>
            </a:r>
            <a:r>
              <a:rPr lang="en-US" sz="1400" dirty="0"/>
              <a:t>",   </a:t>
            </a:r>
          </a:p>
          <a:p>
            <a:r>
              <a:rPr lang="en-US" sz="1400" dirty="0"/>
              <a:t>"type": "furniture",</a:t>
            </a:r>
          </a:p>
          <a:p>
            <a:r>
              <a:rPr lang="en-US" sz="1400" dirty="0"/>
              <a:t>}</a:t>
            </a:r>
          </a:p>
          <a:p>
            <a:r>
              <a:rPr lang="en-US" sz="1400" dirty="0"/>
              <a:t>dresser = {    </a:t>
            </a:r>
          </a:p>
          <a:p>
            <a:r>
              <a:rPr lang="en-US" sz="1400" dirty="0"/>
              <a:t>"name": "dresser",    </a:t>
            </a:r>
          </a:p>
          <a:p>
            <a:r>
              <a:rPr lang="en-US" sz="1400" dirty="0"/>
              <a:t>"type": "furniture",</a:t>
            </a:r>
          </a:p>
          <a:p>
            <a:r>
              <a:rPr lang="en-US" sz="1400" dirty="0"/>
              <a:t>}</a:t>
            </a:r>
          </a:p>
          <a:p>
            <a:r>
              <a:rPr lang="en-US" altLang="en-US" sz="1400" dirty="0"/>
              <a:t>door_b = {</a:t>
            </a:r>
          </a:p>
          <a:p>
            <a:r>
              <a:rPr lang="en-US" altLang="en-US" sz="1400" dirty="0"/>
              <a:t>    "name": "door b",</a:t>
            </a:r>
          </a:p>
          <a:p>
            <a:r>
              <a:rPr lang="en-US" altLang="en-US" sz="1400" dirty="0"/>
              <a:t>    "type": "door",</a:t>
            </a:r>
          </a:p>
          <a:p>
            <a:r>
              <a:rPr lang="en-US" altLang="en-US" sz="1400" dirty="0"/>
              <a:t>}</a:t>
            </a:r>
          </a:p>
          <a:p>
            <a:r>
              <a:rPr lang="en-US" sz="1400" dirty="0" err="1">
                <a:sym typeface="+mn-ea"/>
              </a:rPr>
              <a:t>key_c</a:t>
            </a:r>
            <a:r>
              <a:rPr lang="en-US" sz="1400" dirty="0">
                <a:sym typeface="+mn-ea"/>
              </a:rPr>
              <a:t> = {   </a:t>
            </a:r>
            <a:endParaRPr lang="en-US" sz="1400" dirty="0"/>
          </a:p>
          <a:p>
            <a:r>
              <a:rPr lang="en-US" sz="1400" dirty="0">
                <a:sym typeface="+mn-ea"/>
              </a:rPr>
              <a:t>"name": "key for door c",   </a:t>
            </a:r>
            <a:endParaRPr lang="en-US" sz="1400" dirty="0"/>
          </a:p>
          <a:p>
            <a:r>
              <a:rPr lang="en-US" sz="1400" dirty="0">
                <a:sym typeface="+mn-ea"/>
              </a:rPr>
              <a:t> "type": "key",   </a:t>
            </a:r>
            <a:endParaRPr lang="en-US" sz="1400" dirty="0"/>
          </a:p>
          <a:p>
            <a:r>
              <a:rPr lang="en-US" sz="1400" dirty="0">
                <a:sym typeface="+mn-ea"/>
              </a:rPr>
              <a:t> "target": </a:t>
            </a:r>
            <a:r>
              <a:rPr lang="en-US" sz="1400" dirty="0" err="1">
                <a:sym typeface="+mn-ea"/>
              </a:rPr>
              <a:t>door_c</a:t>
            </a:r>
            <a:r>
              <a:rPr lang="en-US" sz="1400" dirty="0">
                <a:sym typeface="+mn-ea"/>
              </a:rPr>
              <a:t>,</a:t>
            </a:r>
            <a:endParaRPr lang="en-US" sz="1400" dirty="0"/>
          </a:p>
          <a:p>
            <a:r>
              <a:rPr lang="en-US" sz="1400" dirty="0">
                <a:sym typeface="+mn-ea"/>
              </a:rPr>
              <a:t>}</a:t>
            </a:r>
            <a:endParaRPr lang="en-US" sz="1400" dirty="0"/>
          </a:p>
          <a:p>
            <a:r>
              <a:rPr lang="en-US" sz="1400" dirty="0" err="1">
                <a:sym typeface="+mn-ea"/>
              </a:rPr>
              <a:t>key_d</a:t>
            </a:r>
            <a:r>
              <a:rPr lang="en-US" sz="1400" dirty="0">
                <a:sym typeface="+mn-ea"/>
              </a:rPr>
              <a:t> = {   </a:t>
            </a:r>
            <a:endParaRPr lang="en-US" sz="1400" dirty="0"/>
          </a:p>
          <a:p>
            <a:r>
              <a:rPr lang="en-US" sz="1400" dirty="0">
                <a:sym typeface="+mn-ea"/>
              </a:rPr>
              <a:t> "name": "key for door d",    </a:t>
            </a:r>
            <a:endParaRPr lang="en-US" sz="1400" dirty="0"/>
          </a:p>
          <a:p>
            <a:r>
              <a:rPr lang="en-US" sz="1400" dirty="0">
                <a:sym typeface="+mn-ea"/>
              </a:rPr>
              <a:t>"type": "key",    "target": </a:t>
            </a:r>
            <a:r>
              <a:rPr lang="en-US" sz="1400" dirty="0" err="1">
                <a:sym typeface="+mn-ea"/>
              </a:rPr>
              <a:t>door_d</a:t>
            </a:r>
            <a:r>
              <a:rPr lang="en-US" sz="1400" dirty="0">
                <a:sym typeface="+mn-ea"/>
              </a:rPr>
              <a:t>,</a:t>
            </a:r>
            <a:endParaRPr lang="en-US" sz="1400" dirty="0"/>
          </a:p>
          <a:p>
            <a:r>
              <a:rPr lang="en-US" sz="1400" dirty="0">
                <a:sym typeface="+mn-ea"/>
              </a:rPr>
              <a:t>}</a:t>
            </a:r>
            <a:endParaRPr lang="en-US" sz="1400" dirty="0"/>
          </a:p>
          <a:p>
            <a:endParaRPr lang="en-US" altLang="en-US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B6B742-2D41-A492-F515-07F937A623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1877" y="1379009"/>
            <a:ext cx="6271921" cy="47026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D6B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model executable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/>
              <a:t>Livingroom - room and items defined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548640" y="969109"/>
            <a:ext cx="11260406" cy="5799014"/>
            <a:chOff x="548640" y="1274298"/>
            <a:chExt cx="11064240" cy="4892040"/>
          </a:xfrm>
        </p:grpSpPr>
        <p:sp>
          <p:nvSpPr>
            <p:cNvPr id="4" name="Shape 2"/>
            <p:cNvSpPr/>
            <p:nvPr/>
          </p:nvSpPr>
          <p:spPr>
            <a:xfrm>
              <a:off x="548640" y="1274298"/>
              <a:ext cx="11064240" cy="4892040"/>
            </a:xfrm>
            <a:prstGeom prst="rect">
              <a:avLst/>
            </a:prstGeom>
            <a:solidFill>
              <a:srgbClr val="1B2A4A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731488" y="1473395"/>
              <a:ext cx="10698544" cy="44938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1779369" y="1410948"/>
            <a:ext cx="7266314" cy="4092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/>
              <a:t>diningtable</a:t>
            </a:r>
            <a:r>
              <a:rPr lang="en-US" sz="2000" dirty="0"/>
              <a:t> = {   </a:t>
            </a:r>
          </a:p>
          <a:p>
            <a:r>
              <a:rPr lang="en-US" sz="2000" dirty="0"/>
              <a:t>"name": "</a:t>
            </a:r>
            <a:r>
              <a:rPr lang="en-US" sz="2000" dirty="0" err="1"/>
              <a:t>diningtable</a:t>
            </a:r>
            <a:r>
              <a:rPr lang="en-US" sz="2000" dirty="0"/>
              <a:t>",   </a:t>
            </a:r>
          </a:p>
          <a:p>
            <a:r>
              <a:rPr lang="en-US" sz="2000" dirty="0"/>
              <a:t>"type": "furniture",</a:t>
            </a:r>
          </a:p>
          <a:p>
            <a:r>
              <a:rPr lang="en-US" sz="2000" dirty="0"/>
              <a:t>}</a:t>
            </a:r>
          </a:p>
          <a:p>
            <a:r>
              <a:rPr lang="en-US" sz="2000" dirty="0" err="1"/>
              <a:t>living_couch</a:t>
            </a:r>
            <a:r>
              <a:rPr lang="en-US" sz="2000" dirty="0"/>
              <a:t> = {    </a:t>
            </a:r>
          </a:p>
          <a:p>
            <a:r>
              <a:rPr lang="en-US" sz="2000" dirty="0"/>
              <a:t>"name": "</a:t>
            </a:r>
            <a:r>
              <a:rPr lang="en-US" sz="2000" dirty="0" err="1"/>
              <a:t>living_couch</a:t>
            </a:r>
            <a:r>
              <a:rPr lang="en-US" sz="2000" dirty="0"/>
              <a:t>",    </a:t>
            </a:r>
          </a:p>
          <a:p>
            <a:r>
              <a:rPr lang="en-US" sz="2000" dirty="0"/>
              <a:t>"type": "furniture",</a:t>
            </a:r>
          </a:p>
          <a:p>
            <a:r>
              <a:rPr lang="en-US" sz="2000" dirty="0"/>
              <a:t>}</a:t>
            </a:r>
          </a:p>
          <a:p>
            <a:r>
              <a:rPr lang="en-US" sz="2000" dirty="0"/>
              <a:t>TV = {    </a:t>
            </a:r>
          </a:p>
          <a:p>
            <a:r>
              <a:rPr lang="en-US" sz="2000" dirty="0"/>
              <a:t>"name": "TV",    </a:t>
            </a:r>
          </a:p>
          <a:p>
            <a:r>
              <a:rPr lang="en-US" sz="2000" dirty="0"/>
              <a:t>"type": "electronics",</a:t>
            </a:r>
          </a:p>
          <a:p>
            <a:r>
              <a:rPr lang="en-US" sz="2000" dirty="0"/>
              <a:t>}</a:t>
            </a:r>
          </a:p>
          <a:p>
            <a:endParaRPr lang="en-US" alt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D04BFA-FFAF-FC4B-987F-2198D769A5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9668" y="1619938"/>
            <a:ext cx="5998146" cy="44973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D6B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model executable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/>
              <a:t>All rooms - room and items defined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548640" y="969109"/>
            <a:ext cx="11260406" cy="5799014"/>
            <a:chOff x="548640" y="1274298"/>
            <a:chExt cx="11064240" cy="4892040"/>
          </a:xfrm>
        </p:grpSpPr>
        <p:sp>
          <p:nvSpPr>
            <p:cNvPr id="4" name="Shape 2"/>
            <p:cNvSpPr/>
            <p:nvPr/>
          </p:nvSpPr>
          <p:spPr>
            <a:xfrm>
              <a:off x="548640" y="1274298"/>
              <a:ext cx="11064240" cy="4892040"/>
            </a:xfrm>
            <a:prstGeom prst="rect">
              <a:avLst/>
            </a:prstGeom>
            <a:solidFill>
              <a:srgbClr val="1B2A4A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731488" y="1473395"/>
              <a:ext cx="10698544" cy="44938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1883509" y="1205118"/>
            <a:ext cx="726631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/>
              <a:t>game_room</a:t>
            </a:r>
            <a:r>
              <a:rPr lang="en-US" sz="1600" dirty="0"/>
              <a:t> = {    </a:t>
            </a:r>
          </a:p>
          <a:p>
            <a:r>
              <a:rPr lang="en-US" sz="1600" dirty="0"/>
              <a:t>"name": "game room",   </a:t>
            </a:r>
          </a:p>
          <a:p>
            <a:r>
              <a:rPr lang="en-US" sz="1600" dirty="0"/>
              <a:t>"type": "room",</a:t>
            </a:r>
          </a:p>
          <a:p>
            <a:r>
              <a:rPr lang="en-US" sz="1600" dirty="0"/>
              <a:t>}</a:t>
            </a:r>
          </a:p>
          <a:p>
            <a:r>
              <a:rPr lang="en-US" sz="1600" dirty="0"/>
              <a:t>bed_room1={     </a:t>
            </a:r>
          </a:p>
          <a:p>
            <a:r>
              <a:rPr lang="en-US" sz="1600" dirty="0"/>
              <a:t>"name": "bedroom 1",    </a:t>
            </a:r>
          </a:p>
          <a:p>
            <a:r>
              <a:rPr lang="en-US" sz="1600" dirty="0"/>
              <a:t>"type": "room",</a:t>
            </a:r>
          </a:p>
          <a:p>
            <a:r>
              <a:rPr lang="en-US" sz="1600" dirty="0"/>
              <a:t>}</a:t>
            </a:r>
          </a:p>
          <a:p>
            <a:r>
              <a:rPr lang="en-US" sz="1600" dirty="0"/>
              <a:t>bed_room2={     </a:t>
            </a:r>
          </a:p>
          <a:p>
            <a:r>
              <a:rPr lang="en-US" sz="1600" dirty="0"/>
              <a:t>"name": "bedroom 2",     </a:t>
            </a:r>
          </a:p>
          <a:p>
            <a:r>
              <a:rPr lang="en-US" sz="1600" dirty="0"/>
              <a:t>"type": "room",</a:t>
            </a:r>
          </a:p>
          <a:p>
            <a:r>
              <a:rPr lang="en-US" sz="1600" dirty="0"/>
              <a:t>}</a:t>
            </a:r>
          </a:p>
          <a:p>
            <a:r>
              <a:rPr lang="en-US" sz="1600" dirty="0" err="1"/>
              <a:t>living_room</a:t>
            </a:r>
            <a:r>
              <a:rPr lang="en-US" sz="1600" dirty="0"/>
              <a:t>={     </a:t>
            </a:r>
          </a:p>
          <a:p>
            <a:r>
              <a:rPr lang="en-US" sz="1600" dirty="0"/>
              <a:t>"name": "</a:t>
            </a:r>
            <a:r>
              <a:rPr lang="en-US" sz="1600" dirty="0" err="1"/>
              <a:t>livingroom</a:t>
            </a:r>
            <a:r>
              <a:rPr lang="en-US" sz="1600" dirty="0"/>
              <a:t>",     </a:t>
            </a:r>
          </a:p>
          <a:p>
            <a:r>
              <a:rPr lang="en-US" sz="1600" dirty="0"/>
              <a:t>"type": "room",</a:t>
            </a:r>
          </a:p>
          <a:p>
            <a:r>
              <a:rPr lang="en-US" sz="1600" dirty="0"/>
              <a:t>}</a:t>
            </a:r>
          </a:p>
          <a:p>
            <a:r>
              <a:rPr lang="en-US" sz="1600" dirty="0"/>
              <a:t>outside = {  </a:t>
            </a:r>
          </a:p>
          <a:p>
            <a:r>
              <a:rPr lang="en-US" sz="1600" dirty="0"/>
              <a:t>"name": "outside“</a:t>
            </a:r>
          </a:p>
          <a:p>
            <a:r>
              <a:rPr lang="en-US" sz="1600" dirty="0"/>
              <a:t>}</a:t>
            </a:r>
          </a:p>
          <a:p>
            <a:r>
              <a:rPr lang="en-US" sz="1600" dirty="0" err="1"/>
              <a:t>all_rooms</a:t>
            </a:r>
            <a:r>
              <a:rPr lang="en-US" sz="1600" dirty="0"/>
              <a:t> = [</a:t>
            </a:r>
            <a:r>
              <a:rPr lang="en-US" sz="1600" dirty="0" err="1"/>
              <a:t>game_room</a:t>
            </a:r>
            <a:r>
              <a:rPr lang="en-US" sz="1600" dirty="0"/>
              <a:t>, bedroom1, bedroom2, Livingroom, outside]</a:t>
            </a:r>
          </a:p>
          <a:p>
            <a:r>
              <a:rPr lang="en-US" sz="1600" dirty="0" err="1"/>
              <a:t>all_doors</a:t>
            </a:r>
            <a:r>
              <a:rPr lang="en-US" sz="1600" dirty="0"/>
              <a:t> = [</a:t>
            </a:r>
            <a:r>
              <a:rPr lang="en-US" sz="1600" dirty="0" err="1"/>
              <a:t>door_a</a:t>
            </a:r>
            <a:r>
              <a:rPr lang="en-US" sz="1600" dirty="0"/>
              <a:t>, </a:t>
            </a:r>
            <a:r>
              <a:rPr lang="en-US" sz="1600" dirty="0" err="1"/>
              <a:t>door_b</a:t>
            </a:r>
            <a:r>
              <a:rPr lang="en-US" sz="1600" dirty="0"/>
              <a:t>, </a:t>
            </a:r>
            <a:r>
              <a:rPr lang="en-US" sz="1600" dirty="0" err="1"/>
              <a:t>door_c</a:t>
            </a:r>
            <a:r>
              <a:rPr lang="en-US" sz="1600" dirty="0"/>
              <a:t>, </a:t>
            </a:r>
            <a:r>
              <a:rPr lang="en-US" sz="1600" dirty="0" err="1"/>
              <a:t>door_d</a:t>
            </a:r>
            <a:r>
              <a:rPr lang="en-US" sz="1600" dirty="0"/>
              <a:t>]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BDEF47-3A25-CBCC-8FCE-D7C2592C3F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4998" y="1379009"/>
            <a:ext cx="5932007" cy="44477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D6B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MODEL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Object relations and initial Game State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213514" cy="5138928"/>
          </a:xfrm>
          <a:prstGeom prst="rect">
            <a:avLst/>
          </a:prstGeom>
          <a:solidFill>
            <a:srgbClr val="1B2A4A"/>
          </a:solidFill>
        </p:spPr>
      </p:sp>
      <p:sp>
        <p:nvSpPr>
          <p:cNvPr id="5" name="Text 3"/>
          <p:cNvSpPr txBox="1"/>
          <p:nvPr/>
        </p:nvSpPr>
        <p:spPr>
          <a:xfrm>
            <a:off x="914400" y="1783080"/>
            <a:ext cx="10332720" cy="2468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en-US" sz="1600" dirty="0" err="1">
                <a:solidFill>
                  <a:srgbClr val="D7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object_relations</a:t>
            </a:r>
            <a:r>
              <a:rPr lang="en-US" sz="1600" dirty="0">
                <a:solidFill>
                  <a:srgbClr val="D7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= {   </a:t>
            </a:r>
          </a:p>
          <a:p>
            <a:r>
              <a:rPr lang="en-US" sz="1600" dirty="0">
                <a:solidFill>
                  <a:srgbClr val="D7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"game room": [couch, piano, </a:t>
            </a:r>
            <a:r>
              <a:rPr lang="en-US" sz="1600" dirty="0" err="1">
                <a:solidFill>
                  <a:srgbClr val="D7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door_a</a:t>
            </a:r>
            <a:r>
              <a:rPr lang="en-US" sz="1600" dirty="0">
                <a:solidFill>
                  <a:srgbClr val="D7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],    </a:t>
            </a:r>
          </a:p>
          <a:p>
            <a:r>
              <a:rPr lang="en-US" sz="1600" dirty="0">
                <a:solidFill>
                  <a:srgbClr val="D7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"bedroom 1":[</a:t>
            </a:r>
            <a:r>
              <a:rPr lang="en-US" sz="1600" dirty="0" err="1">
                <a:solidFill>
                  <a:srgbClr val="D7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queenbed,door_a,door_b,door_c</a:t>
            </a:r>
            <a:r>
              <a:rPr lang="en-US" sz="1600" dirty="0">
                <a:solidFill>
                  <a:srgbClr val="D7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],    </a:t>
            </a:r>
          </a:p>
          <a:p>
            <a:r>
              <a:rPr lang="en-US" sz="1600" dirty="0">
                <a:solidFill>
                  <a:srgbClr val="D7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"bedroom 2":[</a:t>
            </a:r>
            <a:r>
              <a:rPr lang="en-US" sz="1600" dirty="0" err="1">
                <a:solidFill>
                  <a:srgbClr val="D7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doublebed,door_b,dresser</a:t>
            </a:r>
            <a:r>
              <a:rPr lang="en-US" sz="1600" dirty="0">
                <a:solidFill>
                  <a:srgbClr val="D7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],    "</a:t>
            </a:r>
            <a:r>
              <a:rPr lang="en-US" sz="1600" dirty="0" err="1">
                <a:solidFill>
                  <a:srgbClr val="D7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livingroom</a:t>
            </a:r>
            <a:r>
              <a:rPr lang="en-US" sz="1600" dirty="0">
                <a:solidFill>
                  <a:srgbClr val="D7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":[</a:t>
            </a:r>
            <a:r>
              <a:rPr lang="en-US" sz="1600" dirty="0" err="1">
                <a:solidFill>
                  <a:srgbClr val="D7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diningtable,door_c,door_d,living_couch,TV</a:t>
            </a:r>
            <a:r>
              <a:rPr lang="en-US" sz="1600" dirty="0">
                <a:solidFill>
                  <a:srgbClr val="D7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],    </a:t>
            </a:r>
          </a:p>
          <a:p>
            <a:r>
              <a:rPr lang="en-US" sz="1600" dirty="0">
                <a:solidFill>
                  <a:srgbClr val="D7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"piano": [</a:t>
            </a:r>
            <a:r>
              <a:rPr lang="en-US" sz="1600" dirty="0" err="1">
                <a:solidFill>
                  <a:srgbClr val="D7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key_a</a:t>
            </a:r>
            <a:r>
              <a:rPr lang="en-US" sz="1600" dirty="0">
                <a:solidFill>
                  <a:srgbClr val="D7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],    </a:t>
            </a:r>
          </a:p>
          <a:p>
            <a:r>
              <a:rPr lang="en-US" sz="1600" dirty="0">
                <a:solidFill>
                  <a:srgbClr val="D7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</a:t>
            </a:r>
            <a:r>
              <a:rPr lang="en-US" sz="1600" dirty="0" err="1">
                <a:solidFill>
                  <a:srgbClr val="D7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queenbed</a:t>
            </a:r>
            <a:r>
              <a:rPr lang="en-US" sz="1600" dirty="0">
                <a:solidFill>
                  <a:srgbClr val="D7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": [</a:t>
            </a:r>
            <a:r>
              <a:rPr lang="en-US" sz="1600" dirty="0" err="1">
                <a:solidFill>
                  <a:srgbClr val="D7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key_b</a:t>
            </a:r>
            <a:r>
              <a:rPr lang="en-US" sz="1600" dirty="0">
                <a:solidFill>
                  <a:srgbClr val="D7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],    </a:t>
            </a:r>
          </a:p>
          <a:p>
            <a:r>
              <a:rPr lang="en-US" sz="1600" dirty="0">
                <a:solidFill>
                  <a:srgbClr val="D7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</a:t>
            </a:r>
            <a:r>
              <a:rPr lang="en-US" sz="1600" dirty="0" err="1">
                <a:solidFill>
                  <a:srgbClr val="D7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doublebed</a:t>
            </a:r>
            <a:r>
              <a:rPr lang="en-US" sz="1600" dirty="0">
                <a:solidFill>
                  <a:srgbClr val="D7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": [</a:t>
            </a:r>
            <a:r>
              <a:rPr lang="en-US" sz="1600" dirty="0" err="1">
                <a:solidFill>
                  <a:srgbClr val="D7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key_c</a:t>
            </a:r>
            <a:r>
              <a:rPr lang="en-US" sz="1600" dirty="0">
                <a:solidFill>
                  <a:srgbClr val="D7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],    </a:t>
            </a:r>
          </a:p>
          <a:p>
            <a:r>
              <a:rPr lang="en-US" sz="1600" dirty="0">
                <a:solidFill>
                  <a:srgbClr val="D7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"dresser": [</a:t>
            </a:r>
            <a:r>
              <a:rPr lang="en-US" sz="1600" dirty="0" err="1">
                <a:solidFill>
                  <a:srgbClr val="D7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key_d</a:t>
            </a:r>
            <a:r>
              <a:rPr lang="en-US" sz="1600" dirty="0">
                <a:solidFill>
                  <a:srgbClr val="D7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],    </a:t>
            </a:r>
          </a:p>
          <a:p>
            <a:r>
              <a:rPr lang="en-US" sz="1600" dirty="0">
                <a:solidFill>
                  <a:srgbClr val="D7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"outside": [</a:t>
            </a:r>
            <a:r>
              <a:rPr lang="en-US" sz="1600" dirty="0" err="1">
                <a:solidFill>
                  <a:srgbClr val="D7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door_d</a:t>
            </a:r>
            <a:r>
              <a:rPr lang="en-US" sz="1600" dirty="0">
                <a:solidFill>
                  <a:srgbClr val="D7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],    </a:t>
            </a:r>
          </a:p>
          <a:p>
            <a:r>
              <a:rPr lang="en-US" sz="1600" dirty="0">
                <a:solidFill>
                  <a:srgbClr val="D7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"door a": [game_room,bed_room1],    </a:t>
            </a:r>
          </a:p>
          <a:p>
            <a:r>
              <a:rPr lang="en-US" sz="1600" dirty="0">
                <a:solidFill>
                  <a:srgbClr val="D7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"door b": [bed_room2, bed_room1],    </a:t>
            </a:r>
          </a:p>
          <a:p>
            <a:r>
              <a:rPr lang="en-US" sz="1600" dirty="0">
                <a:solidFill>
                  <a:srgbClr val="D7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"door c": [</a:t>
            </a:r>
            <a:r>
              <a:rPr lang="en-US" sz="1600" dirty="0" err="1">
                <a:solidFill>
                  <a:srgbClr val="D7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living_room</a:t>
            </a:r>
            <a:r>
              <a:rPr lang="en-US" sz="1600" dirty="0">
                <a:solidFill>
                  <a:srgbClr val="D7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 bed_room1],    </a:t>
            </a:r>
          </a:p>
          <a:p>
            <a:r>
              <a:rPr lang="en-US" sz="1600" dirty="0">
                <a:solidFill>
                  <a:srgbClr val="D7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"door d": [</a:t>
            </a:r>
            <a:r>
              <a:rPr lang="en-US" sz="1600" dirty="0" err="1">
                <a:solidFill>
                  <a:srgbClr val="D7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living_room</a:t>
            </a:r>
            <a:r>
              <a:rPr lang="en-US" sz="1600" dirty="0">
                <a:solidFill>
                  <a:srgbClr val="D7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 outside],</a:t>
            </a:r>
          </a:p>
          <a:p>
            <a:pPr marL="0" indent="0">
              <a:buNone/>
            </a:pPr>
            <a:endParaRPr lang="en-US" sz="1600" dirty="0">
              <a:solidFill>
                <a:srgbClr val="D7E0FF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D7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INIT_GAME_STATE = 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7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"current_room": game_room,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7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"keys_collected": [],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7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"target_room": outside,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7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1E75A4-8FE0-66E7-C856-9B97FE046D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8585" y="3173830"/>
            <a:ext cx="4609139" cy="34558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D6B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GAME LOOP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How the Game Runs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713232"/>
          </a:xfrm>
          <a:prstGeom prst="rect">
            <a:avLst/>
          </a:prstGeom>
          <a:solidFill>
            <a:srgbClr val="F4F6FA"/>
          </a:solidFill>
        </p:spPr>
      </p:sp>
      <p:sp>
        <p:nvSpPr>
          <p:cNvPr id="5" name="Text 3"/>
          <p:cNvSpPr txBox="1"/>
          <p:nvPr/>
        </p:nvSpPr>
        <p:spPr>
          <a:xfrm>
            <a:off x="822960" y="1508760"/>
            <a:ext cx="329184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start_game()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1508760"/>
            <a:ext cx="71323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Prints the intro and enters the starting room.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11064240" cy="713232"/>
          </a:xfrm>
          <a:prstGeom prst="rect">
            <a:avLst/>
          </a:prstGeom>
          <a:solidFill>
            <a:srgbClr val="F4F6FA"/>
          </a:solidFill>
        </p:spPr>
      </p:sp>
      <p:sp>
        <p:nvSpPr>
          <p:cNvPr id="8" name="Text 6"/>
          <p:cNvSpPr txBox="1"/>
          <p:nvPr/>
        </p:nvSpPr>
        <p:spPr>
          <a:xfrm>
            <a:off x="822960" y="2377440"/>
            <a:ext cx="329184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play_room(room)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2377440"/>
            <a:ext cx="71323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loop for a room: checks for the win condition, then lets the player explore or examine.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11064240" cy="713232"/>
          </a:xfrm>
          <a:prstGeom prst="rect">
            <a:avLst/>
          </a:prstGeom>
          <a:solidFill>
            <a:srgbClr val="F4F6FA"/>
          </a:solidFill>
        </p:spPr>
      </p:sp>
      <p:sp>
        <p:nvSpPr>
          <p:cNvPr id="11" name="Text 9"/>
          <p:cNvSpPr txBox="1"/>
          <p:nvPr/>
        </p:nvSpPr>
        <p:spPr>
          <a:xfrm>
            <a:off x="822960" y="3246120"/>
            <a:ext cx="329184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explore_room(room)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3246120"/>
            <a:ext cx="71323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Lists every item found in the current room.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11064240" cy="713232"/>
          </a:xfrm>
          <a:prstGeom prst="rect">
            <a:avLst/>
          </a:prstGeom>
          <a:solidFill>
            <a:srgbClr val="F4F6FA"/>
          </a:solidFill>
        </p:spPr>
      </p:sp>
      <p:sp>
        <p:nvSpPr>
          <p:cNvPr id="14" name="Text 12"/>
          <p:cNvSpPr txBox="1"/>
          <p:nvPr/>
        </p:nvSpPr>
        <p:spPr>
          <a:xfrm>
            <a:off x="822960" y="4114800"/>
            <a:ext cx="329184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examine_item(name)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4114800"/>
            <a:ext cx="71323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Inspects an item — unlocks a door if a key is held, or collects a key from furniture.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983480"/>
            <a:ext cx="11064240" cy="713232"/>
          </a:xfrm>
          <a:prstGeom prst="rect">
            <a:avLst/>
          </a:prstGeom>
          <a:solidFill>
            <a:srgbClr val="F4F6FA"/>
          </a:solidFill>
        </p:spPr>
      </p:sp>
      <p:sp>
        <p:nvSpPr>
          <p:cNvPr id="17" name="Text 15"/>
          <p:cNvSpPr txBox="1"/>
          <p:nvPr/>
        </p:nvSpPr>
        <p:spPr>
          <a:xfrm>
            <a:off x="822960" y="4983480"/>
            <a:ext cx="329184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get_next_room_of_door(door, room)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206240" y="4983480"/>
            <a:ext cx="71323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Given a door, returns the room on the other side.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D6B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GAME LOOP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Exploring a Room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6035040" cy="4206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play_room(room) sets it as the current room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it's the target room, print success and stop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Otherwise ask: explore or examine?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explore → explore_room lists items, then play_room repeats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Unrecognized input → repeats the prompt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49440" y="1554480"/>
            <a:ext cx="4663440" cy="4206240"/>
          </a:xfrm>
          <a:prstGeom prst="rect">
            <a:avLst/>
          </a:prstGeom>
          <a:solidFill>
            <a:srgbClr val="F4F6FA"/>
          </a:solidFill>
        </p:spPr>
      </p:sp>
      <p:sp>
        <p:nvSpPr>
          <p:cNvPr id="6" name="Text 4"/>
          <p:cNvSpPr txBox="1"/>
          <p:nvPr/>
        </p:nvSpPr>
        <p:spPr>
          <a:xfrm>
            <a:off x="7223760" y="17830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explore_room(room)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223760" y="2286000"/>
            <a:ext cx="4114800" cy="237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items = [i["name"] for i in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object_relations[room["name"]]]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print("You explore the room. " +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"This is " + room["name"] +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". You find " + ", ".join(items))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D6B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GAME LOOP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Examining an Item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3017520"/>
          </a:xfrm>
          <a:prstGeom prst="rect">
            <a:avLst/>
          </a:prstGeom>
          <a:solidFill>
            <a:srgbClr val="F4F6FA"/>
          </a:solidFill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6B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it's a door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86000"/>
            <a:ext cx="4892040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Checks keys_collected for a matching key.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Have key → unlocks it, next_room is set.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key → stays locked.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554480"/>
            <a:ext cx="5349240" cy="3017520"/>
          </a:xfrm>
          <a:prstGeom prst="rect">
            <a:avLst/>
          </a:prstGeom>
          <a:solidFill>
            <a:srgbClr val="F4F6FA"/>
          </a:solidFill>
        </p:spPr>
      </p:sp>
      <p:sp>
        <p:nvSpPr>
          <p:cNvPr id="8" name="Text 6"/>
          <p:cNvSpPr txBox="1"/>
          <p:nvPr/>
        </p:nvSpPr>
        <p:spPr>
          <a:xfrm>
            <a:off x="6492240" y="178308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6B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it's furniture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286000"/>
            <a:ext cx="4892040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Checks object_relations for that item.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Has a hidden key → picked up and added to keys_collected.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Otherwise → nothing interesting.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75488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After you have explored or examined, you are asked to move on if the next room is unlocked — otherwise, play continues in the same room.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Game ready to play 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20239"/>
            <a:ext cx="10272542" cy="348019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spcAft>
                <a:spcPts val="1400"/>
              </a:spcAft>
              <a:buSzPct val="100000"/>
            </a:pPr>
            <a:r>
              <a:rPr lang="en-US" sz="5400" dirty="0">
                <a:solidFill>
                  <a:schemeClr val="bg1"/>
                </a:solidFill>
              </a:rPr>
              <a:t>THANK YOU!</a:t>
            </a:r>
          </a:p>
          <a:p>
            <a:pPr>
              <a:spcAft>
                <a:spcPts val="1400"/>
              </a:spcAft>
              <a:buSzPct val="100000"/>
            </a:pPr>
            <a:r>
              <a:rPr lang="en-US" sz="2400" dirty="0">
                <a:solidFill>
                  <a:schemeClr val="bg1"/>
                </a:solidFill>
              </a:rPr>
              <a:t>Maisa</a:t>
            </a:r>
          </a:p>
          <a:p>
            <a:pPr>
              <a:spcAft>
                <a:spcPts val="1400"/>
              </a:spcAft>
              <a:buSzPct val="100000"/>
            </a:pPr>
            <a:r>
              <a:rPr lang="en-US" sz="2400" dirty="0">
                <a:solidFill>
                  <a:schemeClr val="bg1"/>
                </a:solidFill>
              </a:rPr>
              <a:t>Edwin</a:t>
            </a:r>
          </a:p>
          <a:p>
            <a:pPr>
              <a:spcAft>
                <a:spcPts val="1400"/>
              </a:spcAft>
              <a:buSzPct val="100000"/>
            </a:pPr>
            <a:r>
              <a:rPr lang="en-US" sz="2400" dirty="0">
                <a:solidFill>
                  <a:schemeClr val="bg1"/>
                </a:solidFill>
              </a:rPr>
              <a:t>Yankson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1248</Words>
  <Application>Microsoft Office PowerPoint</Application>
  <PresentationFormat>Widescreen</PresentationFormat>
  <Paragraphs>227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Edwin Onencan</cp:lastModifiedBy>
  <cp:revision>11</cp:revision>
  <dcterms:created xsi:type="dcterms:W3CDTF">2026-09-27T22:13:00Z</dcterms:created>
  <dcterms:modified xsi:type="dcterms:W3CDTF">2026-09-29T16:58:09Z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C3FA99A56D254F519E5F001E80AE1EC4_12</vt:lpwstr>
  </property>
  <property fmtid="{D5CDD505-2E9C-101B-9397-08002B2CF9AE}" pid="3" name="KSOProductBuildVer">
    <vt:lpwstr>1033-12.1.0.28032</vt:lpwstr>
  </property>
</Properties>
</file>